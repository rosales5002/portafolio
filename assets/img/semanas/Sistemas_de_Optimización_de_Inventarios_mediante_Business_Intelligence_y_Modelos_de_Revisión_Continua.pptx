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822508"/>
            <a:ext cx="8001000" cy="19990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2764408"/>
            <a:ext cx="8001000" cy="57150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119113"/>
            <a:ext cx="8001000" cy="132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SISTEMAS DE OPTIMIZACIÓN DE INVENTARIOS MEDIANTE BI Y MODELOS DE REVISIÓN CONTINUA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571500" y="2878708"/>
            <a:ext cx="39576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spc="1" kern="0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INSTITUCIÓN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3112303"/>
            <a:ext cx="316646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Universidad Peruana Los Andes (UPLA)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3370176"/>
            <a:ext cx="39576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spc="1" kern="0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FACULTAD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603771"/>
            <a:ext cx="315932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Ingeniería de Sistemas y Computación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1500" y="3861643"/>
            <a:ext cx="39576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spc="1" kern="0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CURSO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4095238"/>
            <a:ext cx="203596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Inteligencia de Negocios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14863" y="2850133"/>
            <a:ext cx="39576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spc="1" kern="0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INTEGRANTES DEL EQUIPO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14863" y="3073012"/>
            <a:ext cx="39576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12529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1. Aranda Navarro Jeick (Representante)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14863" y="3327313"/>
            <a:ext cx="39576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12529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2. Yangali Tueros Elias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614863" y="3581614"/>
            <a:ext cx="39576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12529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3. Mendoza Villanueva Andy Junior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14863" y="3835915"/>
            <a:ext cx="39576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12529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4. Cruz Quispe Miguel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71500" y="4453124"/>
            <a:ext cx="80010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D7E1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28 de Mayo de 2026 | Huancayo, Perú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485775"/>
            <a:ext cx="82867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PLANTEAMIENTO DEL PROBLEMA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85775" y="1294805"/>
            <a:ext cx="410051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La gestión de inventarios enfrenta una dicotomía crítica: el </a:t>
            </a:r>
            <a:r>
              <a:rPr lang="en-US" sz="10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exceso de stock</a:t>
            </a: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, que inmoviliza capital y genera costos de </a:t>
            </a: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almacenamiento, frente al </a:t>
            </a:r>
            <a:r>
              <a:rPr lang="en-US" sz="10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quiebre de inventario</a:t>
            </a: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, que deriva </a:t>
            </a: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en ventas perdidas y deterioro del servicio.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85775" y="2266355"/>
            <a:ext cx="410051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Las deficiencias actuales radican en un </a:t>
            </a:r>
            <a:r>
              <a:rPr lang="en-US" sz="10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modelado de datos plano</a:t>
            </a: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y cálculos estáticos basados en promedios. Estas </a:t>
            </a: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aproximaciones desconocen la </a:t>
            </a:r>
            <a:r>
              <a:rPr lang="en-US" sz="10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estocasticidad</a:t>
            </a: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de demanda </a:t>
            </a:r>
            <a:r>
              <a:rPr lang="en-US" sz="10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y suministro, limitando la agilidad operativa.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3237905"/>
            <a:ext cx="4100513" cy="1255319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7" name="Text 4"/>
          <p:cNvSpPr/>
          <p:nvPr/>
        </p:nvSpPr>
        <p:spPr>
          <a:xfrm>
            <a:off x="542925" y="3462207"/>
            <a:ext cx="3986213" cy="2423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Objetivo General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2925" y="3871717"/>
            <a:ext cx="3986213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Desarrollar un sistema integral de BI en Power BI basado en modelos de revisión continua y arquitectura de alto rendimiento para optimizar la cadena de suministro.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72013" y="1151930"/>
            <a:ext cx="4100513" cy="841511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0" name="Shape 7"/>
          <p:cNvSpPr/>
          <p:nvPr/>
        </p:nvSpPr>
        <p:spPr>
          <a:xfrm>
            <a:off x="4672013" y="1151930"/>
            <a:ext cx="85725" cy="841511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11" name="Text 8"/>
          <p:cNvSpPr/>
          <p:nvPr/>
        </p:nvSpPr>
        <p:spPr>
          <a:xfrm>
            <a:off x="4729163" y="1337667"/>
            <a:ext cx="39862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D7E1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STAR SCHEMA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29163" y="1616273"/>
            <a:ext cx="39862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Diseño de Data Warehouse con esquema estrella de Ralph Kimball para optimizar tiempos de respuesta analíticos.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72013" y="2050591"/>
            <a:ext cx="4100513" cy="100152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4" name="Shape 11"/>
          <p:cNvSpPr/>
          <p:nvPr/>
        </p:nvSpPr>
        <p:spPr>
          <a:xfrm>
            <a:off x="4672013" y="2050591"/>
            <a:ext cx="85725" cy="1001520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15" name="Text 12"/>
          <p:cNvSpPr/>
          <p:nvPr/>
        </p:nvSpPr>
        <p:spPr>
          <a:xfrm>
            <a:off x="4729163" y="2236329"/>
            <a:ext cx="39862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D7E1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SEGURIDAD DINÁMICA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29163" y="2514935"/>
            <a:ext cx="39862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Implementación de algoritmos de stock de seguridad dinámico integrando la variabilidad combinada de demanda y tiempo de entrega.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72013" y="2949253"/>
            <a:ext cx="4100513" cy="841511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8" name="Shape 15"/>
          <p:cNvSpPr/>
          <p:nvPr/>
        </p:nvSpPr>
        <p:spPr>
          <a:xfrm>
            <a:off x="4672013" y="2949253"/>
            <a:ext cx="85725" cy="841511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19" name="Text 16"/>
          <p:cNvSpPr/>
          <p:nvPr/>
        </p:nvSpPr>
        <p:spPr>
          <a:xfrm>
            <a:off x="4729163" y="3134990"/>
            <a:ext cx="39862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D7E1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SIMULACIÓN WHAT-IF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29163" y="3413596"/>
            <a:ext cx="39862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Creación de un simulador interactivo para evaluar el impacto de escenarios disruptivos en los niveles de stock.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1481"/>
            <a:ext cx="80010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FUNDAMENTO Y DISEÑO TÉCNICO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44823"/>
            <a:ext cx="3857625" cy="21788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MODELO DE REVISIÓN CONTINUA (S, Q)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791295"/>
            <a:ext cx="3857625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Monitoreo constante del inventario disponible. Se emite un </a:t>
            </a:r>
            <a:r>
              <a:rPr lang="en-US" sz="9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pedido de tamaño </a:t>
            </a:r>
            <a:r>
              <a:rPr lang="en-US" sz="900" b="1" dirty="0">
                <a:solidFill>
                  <a:srgbClr val="49505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</a:t>
            </a:r>
            <a:r>
              <a:rPr lang="en-US" sz="9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cuando el stock alcanza el punto de </a:t>
            </a:r>
            <a:r>
              <a:rPr lang="en-US" sz="9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reorden </a:t>
            </a:r>
            <a:r>
              <a:rPr lang="en-US" sz="900" b="1" dirty="0">
                <a:solidFill>
                  <a:srgbClr val="49505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</a:t>
            </a:r>
            <a:r>
              <a:rPr lang="en-US" sz="9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427089"/>
            <a:ext cx="3857625" cy="1200150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2605683"/>
            <a:ext cx="342900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σ²total = LT × σ²D + D² × σ²LT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5813" y="3373636"/>
            <a:ext cx="34290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Variabilidad Combinada:</a:t>
            </a:r>
            <a:r>
              <a:rPr lang="en-US" sz="750" dirty="0">
                <a:solidFill>
                  <a:srgbClr val="212529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LT (Lead Time), D (Demanda), σ² (Varianza). </a:t>
            </a:r>
            <a:r>
              <a:rPr lang="en-US" sz="750" dirty="0">
                <a:solidFill>
                  <a:srgbClr val="212529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Base para el Stock de Seguridad Dinámico.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714875" y="1444823"/>
            <a:ext cx="3857625" cy="21788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ARQUITECTURA STAR SCHEMA (KIMBALL)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14875" y="1884164"/>
            <a:ext cx="1857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D7E1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TABLAS FACT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714875" y="2144911"/>
            <a:ext cx="1857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FactConsumo:</a:t>
            </a:r>
            <a:r>
              <a:rPr lang="en-US" sz="8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Transacciones.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14875" y="2376357"/>
            <a:ext cx="1857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FactCompras:</a:t>
            </a:r>
            <a:r>
              <a:rPr lang="en-US" sz="8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Órdenes.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14875" y="2607804"/>
            <a:ext cx="1857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FactInventario:</a:t>
            </a:r>
            <a:r>
              <a:rPr lang="en-US" sz="8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Niveles.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715125" y="1884164"/>
            <a:ext cx="1857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D7E1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TABLAS DIM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15125" y="2144911"/>
            <a:ext cx="1857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DimProductos:</a:t>
            </a:r>
            <a:r>
              <a:rPr lang="en-US" sz="8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SKUs.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15125" y="2376357"/>
            <a:ext cx="1857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DimProveedores:</a:t>
            </a:r>
            <a:r>
              <a:rPr lang="en-US" sz="8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Vendedores.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15125" y="2607804"/>
            <a:ext cx="1857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DimCalendario:</a:t>
            </a:r>
            <a:r>
              <a:rPr lang="en-US" sz="8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Tiempo.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14875" y="3024987"/>
            <a:ext cx="3857625" cy="41433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Diseño optimizado para </a:t>
            </a:r>
            <a:r>
              <a:rPr lang="en-US" sz="800" b="1" dirty="0">
                <a:solidFill>
                  <a:srgbClr val="49505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alto rendimiento</a:t>
            </a:r>
            <a:r>
              <a:rPr lang="en-US" sz="8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en Power BI, facilitando el </a:t>
            </a:r>
            <a:r>
              <a:rPr lang="en-US" sz="85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filtrado dimensional y cálculos DAX eficientes.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DATASET Y VISUALIZACIÓN (INVENT-PRO)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37680"/>
            <a:ext cx="2366367" cy="201811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DATASET KAGGLE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71500" y="1746647"/>
            <a:ext cx="2366367" cy="1722927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989534"/>
            <a:ext cx="208061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D7E1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Nombre:</a:t>
            </a:r>
            <a:r>
              <a:rPr lang="en-US" sz="75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FMCG Sales Demand Forecasting </a:t>
            </a:r>
            <a:r>
              <a:rPr lang="en-US" sz="75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and Optimization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14375" y="2376692"/>
            <a:ext cx="208061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D7E1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Registros:</a:t>
            </a:r>
            <a:r>
              <a:rPr lang="en-US" sz="75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1,000 filas (CSV)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14375" y="2623849"/>
            <a:ext cx="2080617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D7E1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Columnas Clave:</a:t>
            </a:r>
            <a:r>
              <a:rPr lang="en-US" sz="75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75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Date, Sales_Volume, Price, Stock_Level, </a:t>
            </a:r>
            <a:r>
              <a:rPr lang="en-US" sz="75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Replenishment_Lead_Time.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14375" y="3151008"/>
            <a:ext cx="2080617" cy="3185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E8ECE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Cumple con el rango 1k-3k y permite medir variabilidad de D y LT.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152180" y="1437680"/>
            <a:ext cx="2366367" cy="201811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MÉTRICAS DAX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52180" y="1753791"/>
            <a:ext cx="23663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Volatilidad de Demanda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152180" y="1923455"/>
            <a:ext cx="2184202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Desviación estándar móvil (30/60/90 días) para detectar estocasticidad.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52180" y="2303859"/>
            <a:ext cx="23663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Confiabilidad Proveedor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152180" y="2473523"/>
            <a:ext cx="2273498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Diferencia cuadrática media entre LT real vs. teórico.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52180" y="2853928"/>
            <a:ext cx="23663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Costo de Oportunidad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152180" y="3023592"/>
            <a:ext cx="196810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Valor financiero del stockout y capital inmovilizado.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32859" y="1437680"/>
            <a:ext cx="2839641" cy="201811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DASHBOARD LEVELS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32859" y="1746647"/>
            <a:ext cx="2839641" cy="576858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19" name="Text 16"/>
          <p:cNvSpPr/>
          <p:nvPr/>
        </p:nvSpPr>
        <p:spPr>
          <a:xfrm>
            <a:off x="5840016" y="1832372"/>
            <a:ext cx="2625328" cy="108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12529">
                    <a:alpha val="8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ESTRATÉGICO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840016" y="2048470"/>
            <a:ext cx="262532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KPIs: Nivel de Servicio, Valor en Riesgo (VaR), Rotación.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32859" y="2409230"/>
            <a:ext cx="2839641" cy="576858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22" name="Text 19"/>
          <p:cNvSpPr/>
          <p:nvPr/>
        </p:nvSpPr>
        <p:spPr>
          <a:xfrm>
            <a:off x="5840016" y="2494955"/>
            <a:ext cx="2625328" cy="108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12529">
                    <a:alpha val="8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TÁCTICO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840016" y="2711053"/>
            <a:ext cx="262532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Cumplimiento de SLAs de proveedores y análisis por categoría.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732859" y="3071813"/>
            <a:ext cx="2839641" cy="439341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25" name="Text 22"/>
          <p:cNvSpPr/>
          <p:nvPr/>
        </p:nvSpPr>
        <p:spPr>
          <a:xfrm>
            <a:off x="5840016" y="3157538"/>
            <a:ext cx="2625328" cy="108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12529">
                    <a:alpha val="8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OPERATIVO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840016" y="3373636"/>
            <a:ext cx="262532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Matriz de acción inmediata y Simulador "What-If".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2026-05-28T18:17:25Z</dcterms:created>
  <dcterms:modified xsi:type="dcterms:W3CDTF">2026-05-28T18:17:25Z</dcterms:modified>
</cp:coreProperties>
</file>